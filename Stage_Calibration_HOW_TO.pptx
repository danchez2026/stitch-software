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4FC3F7"/>
                </a:solidFill>
              </a:defRPr>
            </a:pPr>
            <a:r>
              <a:t>MAC2000 Stage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t>Step-by-Step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888888"/>
                </a:solidFill>
              </a:defRPr>
            </a:pPr>
            <a:r>
              <a:t>How to calibrate the Ludl MAC2000 motorized stage</a:t>
            </a:r>
          </a:p>
          <a:p>
            <a:pPr>
              <a:spcAft>
                <a:spcPts val="600"/>
              </a:spcAft>
              <a:defRPr sz="1400" b="0">
                <a:solidFill>
                  <a:srgbClr val="888888"/>
                </a:solidFill>
              </a:defRPr>
            </a:pPr>
            <a:r>
              <a:t>for accurate die mapping and tile stitching</a:t>
            </a:r>
          </a:p>
          <a:p>
            <a:pPr>
              <a:spcAft>
                <a:spcPts val="600"/>
              </a:spcAft>
              <a:defRPr sz="1400" b="0">
                <a:solidFill>
                  <a:srgbClr val="888888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888888"/>
                </a:solidFill>
              </a:defRPr>
            </a:pPr>
            <a:r>
              <a:t>Stage: LEP (Ludl Electronic Products)  |  S/N: 060205</a:t>
            </a:r>
          </a:p>
          <a:p>
            <a:pPr>
              <a:spcAft>
                <a:spcPts val="600"/>
              </a:spcAft>
              <a:defRPr sz="1400" b="0">
                <a:solidFill>
                  <a:srgbClr val="888888"/>
                </a:solidFill>
              </a:defRPr>
            </a:pPr>
            <a:r>
              <a:t>SemiAnalysis  |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88888"/>
                </a:solidFill>
              </a:defRPr>
            </a:pPr>
            <a:r>
              <a:t>SemiAnalysis  |  MAC2000 Stage Calibration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</a:defRPr>
            </a:pPr>
            <a:r>
              <a:t>Why Calibrate the Stage?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The MAC2000 stage moves in motor steps, but we need to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know the physical distance per step (microns) to: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•  Calculate field-of-view (FOV) in real units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•  Set precise overlap between tiles for stitching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•  Move to exact positions on the die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•  Generate accurate measurement data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822960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9224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88888"/>
                </a:solidFill>
              </a:defRPr>
            </a:pPr>
            <a:r>
              <a:t>SemiAnalysis  |  MAC2000 Stage Calibration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</a:defRPr>
            </a:pPr>
            <a:r>
              <a:t>What You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Equipment: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•  WILD stereo microscope with LEP MAC2000 stage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  (S/N: 060205)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•  Teli BU505MC camera (USB3) connected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•  MAC2000 controller connected via RS-232 (COM3)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•  MCS-0.1µm calibration standard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  (S/N: CD-EA07-0801) — nested squares: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  2.5mm, 1.0mm, 0.5mm, 0.25mm, 0.1mm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Software: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•  Python 3.x with dependencies installed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•  calibrate_stage.py (in MAC2000 folder)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Recommended magnification: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•  WILD 32x or higher for best precision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(grid lines appear thicker = easier to align)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389120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9224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88888"/>
                </a:solidFill>
              </a:defRPr>
            </a:pPr>
            <a:r>
              <a:t>SemiAnalysis  |  MAC2000 Stage Calibration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</a:defRPr>
            </a:pPr>
            <a:r>
              <a:t>Step 1: Launch the Calibration Tool</a:t>
            </a:r>
          </a:p>
        </p:txBody>
      </p:sp>
      <p:sp>
        <p:nvSpPr>
          <p:cNvPr id="3" name="Oval 2"/>
          <p:cNvSpPr/>
          <p:nvPr/>
        </p:nvSpPr>
        <p:spPr>
          <a:xfrm>
            <a:off x="8412480" y="274320"/>
            <a:ext cx="548640" cy="54864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Open a terminal and run: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python MAC2000/calibrate_stage.py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The calibration GUI will open with: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•  Camera preview (left)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•  Controls and calibration buttons (right)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•  Stage jog arrows (bottom right)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457200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9224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88888"/>
                </a:solidFill>
              </a:defRPr>
            </a:pPr>
            <a:r>
              <a:t>SemiAnalysis  |  MAC2000 Stage Calibration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</a:defRPr>
            </a:pPr>
            <a:r>
              <a:t>Step 2: Connect Stage &amp; Camera</a:t>
            </a:r>
          </a:p>
        </p:txBody>
      </p:sp>
      <p:sp>
        <p:nvSpPr>
          <p:cNvPr id="3" name="Oval 2"/>
          <p:cNvSpPr/>
          <p:nvPr/>
        </p:nvSpPr>
        <p:spPr>
          <a:xfrm>
            <a:off x="8412480" y="274320"/>
            <a:ext cx="548640" cy="54864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1. Verify COM port is set to COM3 (or your port)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2. Click "Connect"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3. Status bar will show: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Stage: COM3 OK | Camera: BU505MC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4. Live position display will start updating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Troubleshooting: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•  If COM3 access denied: close other programs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using the port (TeliViewer, PolyCameraPro, etc.)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•  If camera fails: kill PolyCameraPro process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88888"/>
                </a:solidFill>
              </a:defRPr>
            </a:pPr>
            <a:r>
              <a:t>SemiAnalysis  |  MAC2000 Stage Calibration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</a:defRPr>
            </a:pPr>
            <a:r>
              <a:t>Step 3: Place Calibration Standard &amp; Focus</a:t>
            </a:r>
          </a:p>
        </p:txBody>
      </p:sp>
      <p:sp>
        <p:nvSpPr>
          <p:cNvPr id="3" name="Oval 2"/>
          <p:cNvSpPr/>
          <p:nvPr/>
        </p:nvSpPr>
        <p:spPr>
          <a:xfrm>
            <a:off x="8412480" y="274320"/>
            <a:ext cx="548640" cy="54864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1. Place the MCS-0.1µm calibration standard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   on the stage (S/N: CD-EA07-0801)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2. Set the WILD microscope to 32x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     •  Grid lines appear thick = easy to align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     •  Magnification doesn't affect step count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3. Click "Start Live" to see the camera feed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4. Navigate to the 2.5 mm grid area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   (outermost square on the standard)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5. Focus until grid lines are sharp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6. Adjust Gain/Exposure sliders if too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   dark or bright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7. Select grid spacing: "2.5 mm square grid"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   and set "Grid lines to span" = 1</a:t>
            </a:r>
          </a:p>
        </p:txBody>
      </p:sp>
      <p:pic>
        <p:nvPicPr>
          <p:cNvPr id="5" name="Picture 4" descr="cal_standard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4297680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9224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88888"/>
                </a:solidFill>
              </a:defRPr>
            </a:pPr>
            <a:r>
              <a:t>SemiAnalysis  |  MAC2000 Stage Calibration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</a:defRPr>
            </a:pPr>
            <a:r>
              <a:t>Step 4a: X-Axis — Mark Point A</a:t>
            </a:r>
          </a:p>
        </p:txBody>
      </p:sp>
      <p:sp>
        <p:nvSpPr>
          <p:cNvPr id="3" name="Oval 2"/>
          <p:cNvSpPr/>
          <p:nvPr/>
        </p:nvSpPr>
        <p:spPr>
          <a:xfrm>
            <a:off x="8412480" y="274320"/>
            <a:ext cx="548640" cy="54864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1. Use speed "Medium" to navigate until a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vertical grid line from the 2.5mm grid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is near the red crosshair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2. Switch to "Crawl" speed for fine alignment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3. Hold the LEFT/RIGHT arrows until the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vertical line is perfectly centered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on the crosshair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4. Click "Mark A (X)"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Status will show: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X: Point A = 123680 steps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411480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9224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88888"/>
                </a:solidFill>
              </a:defRPr>
            </a:pPr>
            <a:r>
              <a:t>SemiAnalysis  |  MAC2000 Stage Calibration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</a:defRPr>
            </a:pPr>
            <a:r>
              <a:t>Step 4b: X-Axis — Move to Next Grid Line</a:t>
            </a:r>
          </a:p>
        </p:txBody>
      </p:sp>
      <p:sp>
        <p:nvSpPr>
          <p:cNvPr id="3" name="Oval 2"/>
          <p:cNvSpPr/>
          <p:nvPr/>
        </p:nvSpPr>
        <p:spPr>
          <a:xfrm>
            <a:off x="8412480" y="274320"/>
            <a:ext cx="548640" cy="54864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1. Switch to "Slow" or "Medium" speed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2. Hold the RIGHT arrow to move the stage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until the NEXT vertical grid line appears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3. Switch to "Crawl" for fine alignment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4. Align that line precisely on the crosshair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The distance between adjacent 2.5mm grid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lines = exactly 2.5 mm (2500 µm)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Take your time — precise alignment here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determines calibration accuracy!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411480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9224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88888"/>
                </a:solidFill>
              </a:defRPr>
            </a:pPr>
            <a:r>
              <a:t>SemiAnalysis  |  MAC2000 Stage Calibration Guide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</a:defRPr>
            </a:pPr>
            <a:r>
              <a:t>Step 4c: X-Axis — Mark Point B</a:t>
            </a:r>
          </a:p>
        </p:txBody>
      </p:sp>
      <p:sp>
        <p:nvSpPr>
          <p:cNvPr id="3" name="Oval 2"/>
          <p:cNvSpPr/>
          <p:nvPr/>
        </p:nvSpPr>
        <p:spPr>
          <a:xfrm>
            <a:off x="8412480" y="274320"/>
            <a:ext cx="548640" cy="54864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1. With the next grid line aligned on the crosshair,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click "Mark B (X)"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2. The tool automatically calculates: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step_difference / grid_spacing = steps per um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3. Result appears immediately, for example: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X: 25000 steps / 2500 um =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   10.0000 steps/um  (0.1000 um/step)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If the number looks wrong, redo — click Mark A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again and repeat.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88888"/>
                </a:solidFill>
              </a:defRPr>
            </a:pPr>
            <a:r>
              <a:t>SemiAnalysis  |  MAC2000 Stage Calibration Guide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</a:defRPr>
            </a:pPr>
            <a:r>
              <a:t>Step 5: Calibrate Y Axis</a:t>
            </a:r>
          </a:p>
        </p:txBody>
      </p:sp>
      <p:sp>
        <p:nvSpPr>
          <p:cNvPr id="3" name="Oval 2"/>
          <p:cNvSpPr/>
          <p:nvPr/>
        </p:nvSpPr>
        <p:spPr>
          <a:xfrm>
            <a:off x="8412480" y="274320"/>
            <a:ext cx="548640" cy="54864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Same procedure, but for the Y axis: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1. Jog stage UP/DOWN until a HORIZONTAL grid line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aligns with the crosshair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2. Click "Mark A (Y)"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3. Jog stage DOWN until the NEXT horizontal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grid line aligns with the crosshair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4. Click "Mark B (Y)"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Result will show Y steps/um.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NOTE: X and Y may have slightly different values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if the stage has different gear ratios per axis.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88888"/>
                </a:solidFill>
              </a:defRPr>
            </a:pPr>
            <a:r>
              <a:t>SemiAnalysis  |  MAC2000 Stage Calibration Guide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</a:defRPr>
            </a:pPr>
            <a:r>
              <a:t>Step 6: Save Calibration</a:t>
            </a:r>
          </a:p>
        </p:txBody>
      </p:sp>
      <p:sp>
        <p:nvSpPr>
          <p:cNvPr id="3" name="Oval 2"/>
          <p:cNvSpPr/>
          <p:nvPr/>
        </p:nvSpPr>
        <p:spPr>
          <a:xfrm>
            <a:off x="8412480" y="274320"/>
            <a:ext cx="548640" cy="54864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1. Click "Save Calibration"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2. This saves stage_calibration.json in the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MAC2000 folder containing: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•  steps_per_um for X and Y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•  um_per_step for X and Y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•  Raw point A/B positions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•  Grid spacing used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3. The die_mapper.py will automatically load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this file for tile scan calculations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828800"/>
            <a:ext cx="457200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9224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88888"/>
                </a:solidFill>
              </a:defRPr>
            </a:pPr>
            <a:r>
              <a:t>SemiAnalysis  |  MAC2000 Stage Calibration Guide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</a:defRPr>
            </a:pPr>
            <a:r>
              <a:t>Tips for Accurate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•  Span multiple grid lines for better accuracy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(set "Grid lines to span" to 4 = 10mm travel)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•  Use the smallest jog step size (100) for final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alignment to the crosshair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•  Repeat the measurement 2-3 times and compare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results — they should be consistent within 1%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•  The calibration only needs to be done ONCE per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stage (not per objective — stage steps are fixed)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•  Recalibrate if the stage is serviced or if the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motor coupling is adjusted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•  The Ludl MAC2000 typically has ~10 steps/um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(0.1 um resolution) but verify with your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88888"/>
                </a:solidFill>
              </a:defRPr>
            </a:pPr>
            <a:r>
              <a:t>SemiAnalysis  |  MAC2000 Stage Calibration Guide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</a:defRPr>
            </a:pPr>
            <a:r>
              <a:t>What's Next?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With the stage calibrated, you can now: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1.  Run automated tile scans with die_mapper.py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•  Specify die size in microns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•  Set overlap percentage (typically 15%)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•  Serpentine scan pattern minimizes travel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2.  Stitch tiles with stitcher.py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•  Phase correlation alignment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•  Cosine-tapered blending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•  Outputs high-res TIFF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3.  Analyze in the DieAnalysisTool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•  Select McBain or WILD microscope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•  Choose objective for calibrated measurements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     •  Export to PPT or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88888"/>
                </a:solidFill>
              </a:defRPr>
            </a:pPr>
            <a:r>
              <a:t>SemiAnalysis  |  MAC2000 Stage Calibration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